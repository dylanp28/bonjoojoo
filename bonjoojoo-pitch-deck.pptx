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bonjoojoo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Conscious Luxury • Lab-Grown Diamonds • Next Generation Jewelry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Premium lab-grown diamond jewelry brand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Sustainable luxury positioned for millennials &amp; Gen Z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Direct-to-consumer model with concierge-level service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Curated collections vs. overwhelming catalogs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Founded on principles of ethics, quality, and transparency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💎 Conscious luxury. Infinite possibilities.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The Problem: Traditional Diamond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Environmental Impact: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Diamond mining displaces 250 tons of earth per carat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Carbon footprint 57,000x higher than lab-grown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Ethical Concerns: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Conflict diamonds still exist in supply chains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Worker exploitation in mining operations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Consumer Pain Points: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Overpriced due to De Beers monopoly legacy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Overwhelming choices without guidance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Declining engagement ring budgets (-13% since 2021)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Our Solution: Lab-Grown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Superior Value: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60-80% cost savings vs. natural diamonds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Identical chemical, physical &amp; optical properties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IGI/GIA certified quality assurance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Differentiated Experience: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Curated collections with storytelling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Personal jewelry consultations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Educational content and transparency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30-day returns, lifetime warranty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Technology Advantage: CVD process for perfect diamonds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Explosive Market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Global Lab-Grown Diamond Market: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2024: $29.7 billion (current)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2034: $91.8 billion (forecast)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CAGR: 14.15% (2025-2034)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US Market Specifics: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Lab-grown = 47.4% of engagement ring market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Average price: $5,200 (down from $6,000)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Millennials/Gen Z: 78% prefer ethical alternatives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Target Market Size: $850M serviceable, $2.1B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STRENGTHS: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First-mover advantage in curated luxury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65-70% gross margins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Founder jewelry industry expertise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Sustainable positioning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Scalable D2C model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OPPORTUNITIES: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Rapid market growth (14.15% CAGR)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Generational shift to ethical consumption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International expansion potential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Adjacent categories (watches, men's)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B2B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WEAKNESSES: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New brand requiring education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Limited brand recognition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Supplier relationship dependence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Higher initial CAC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THREATS: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Established players entering space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Potential price commoditization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Natural diamond marketing pushback</a:t>
            </a:r>
          </a:p>
          <a:p>
            <a:pPr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• Economic downturn affecting luxury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Brilliant Earth (NASDAQ:BRLT):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Market cap: ~$450M, Revenue: $400M+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Weakness: Higher prices, less personal service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Clean Origin: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Revenue: ~$50M, Value-focused positioning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Weakness: Limited brand story, basic designs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Our Competitive Advantages: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Curated luxury positioning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Personal consultation model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Story-driven brand experience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Superior customer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Business Model &amp;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Revenue Streams: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Engagement rings (65%) • Fine jewelry (25%) • Accessories (10%)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Unit Economics: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Average order value: $2,750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Gross margin: 67%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Customer acquisition cost: $125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Customer lifetime value: $1,850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LTV/CAC ratio: 14.8x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Pricing: Premium positioning 20-30% above value players,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10-20% below luxury incumbents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Target Customer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Sustainable Sarah (26-32) - 40% of market: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Income: $75K-$120K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Values: Ethics, sustainability, authenticity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Spending: $1,800-$3,500 on engagement rings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Luxury Lauren (30-40) - 35% of market: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Income: $120K-$250K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Values: Quality, exclusivity, craftsmanship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Spending: $3,500-$8,000 on fine jewelry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Modern Michael (28-35) - 25% of market: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Income: $80K-$150K, Primary ring researcher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Values: Innovation, smart purchasing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Year 1 (2025): $1.2M revenue, 450 customers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Gross margin: 65% • Operating margin: -15%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Year 2 (2026): $3.8M revenue, 1,380 customers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Gross margin: 67% • Operating margin: 5%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Year 3 (2027): $9.2M revenue, 3,350 customers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Gross margin: 69% • Operating margin: 18%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Year 5 (2029): $28.5M revenue, 10,350 customers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CAGR: 125% (Years 1-3)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International revenue: 25% by Year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Technology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E-commerce Platform: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Next.js/React frontend for performance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Shopify Plus backend for scalability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Mobile-optimized (60% of traffic)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Competitive Tech Advantages: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Virtual try-on using AR technology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Diamond visualization and comparison tools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Real-time chat with jewelry experts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Supply Chain: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Direct relationships with lab-grown producers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IGI-certified suppliers • Same-day shipping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Phase 1: Market Establishment (Years 1-2)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Build brand awareness in engagement rings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Optimize unit economics and operations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Phase 2: Category Expansion (Years 2-4)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Expand into fine jewelry categories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Launch men's jewelry and watches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Phase 3: Market Dominance (Years 4-5)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International expansion (Canada, UK, Australia)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Flagship showrooms in major markets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Growth Levers: Product expansion, geographic growth,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B2B partnerships, LTV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Investment Ask: $2.5M Series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Use of Funds: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Inventory &amp; Working Capital: 40% ($1.0M)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Marketing &amp; Customer Acquisition: 35% ($875K)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Technology Development: 15% ($375K)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Team Expansion: 10% ($250K)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Key Milestones: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Achieve $3.8M revenue in Year 2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Reach positive operating margin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Launch 3 new product categories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Expand to 2 international markets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Return Potential: $85M-$140M valuation at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Team &amp;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Founder &amp; CEO: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10+ years family jewelry industry experience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UC Berkeley Data Science &amp; Economics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Deep understanding of diamond supply chains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Advisory Board: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Industry veteran from Brilliant Earth/Blue Nile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E-commerce scaling expert (former Warby Parker)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Sustainable business consultant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Key Hires with Funding: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VP Marketing • Head of Operations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• Senior Designer • Customer Success Manager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Questions &amp; Discussion</a:t>
            </a:r>
          </a:p>
          <a:p/>
          <a:p>
            <a:r>
              <a:t>Contact: hello@bonjoojoo.com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